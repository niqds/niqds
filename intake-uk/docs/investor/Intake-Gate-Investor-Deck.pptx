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line: we're the QA + chase layer for bookkeeping, timed to MTD. Seeking a strategic partner and a pre-seed round. Working prototype already built.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pain is universal and unbillable. Capture tools (Dext etc.) digitise documents but never tell you the set is incomplete. That gap is ours.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wedge: MTD makes the chase quarterly and drags a huge, unprepared population into digital filing. The behaviour change is already underway.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Emphasise: the product exists and works now — 53 automated tests, zero false blocking flags on the fixture set. This is not vapourware.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crux for investors and for grants: not 'an AI tool' but explainable AI bounded by deterministic rules — trustworthy enough for regulated, liable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Practice-side TAM is a defensible ~£60m UK-only; SME direct is upside. Incumbent capture-tool pricing proves willingness to pay for adjacent tooling.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Value is an order of magnitude above price, so the work is distribution not justification. Annual billing and per-client overage fund expansion.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 status: pre-revenue but de-risked — the hard technical core is done and verified. The round funds Phase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Grants are upside, not the plan. The honest framing (bounded, explainable AI) is both true and a stronger grant narrative than 'it's all AI'.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specific live: name the amount, the milestone it buys (self-serve launch + first paying practices), and the kind of partner whose distribution matters most.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Credibility gap to close: a named practising accountant/bookkeeper advisor. Investors will look for domain proof next to the engineering.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one-liner and the ask. Leave them the link to the live brief and offer a 15-minute demo of the working product.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E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0A1620"/>
          </a:solidFill>
          <a:ln w="25400">
            <a:solidFill>
              <a:srgbClr val="3F7F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48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548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3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INTAKE GATE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88696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records-QA layer UK bookkeeping is about to need four times a year.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611880"/>
            <a:ext cx="7955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D7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catch what's missing or wrong in a client's document bundle the moment it lands — and write the exact chase email — with every decision auditable, not an AI guess.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4892040"/>
            <a:ext cx="3566160" cy="457200"/>
          </a:xfrm>
          <a:prstGeom prst="roundRect">
            <a:avLst>
              <a:gd name="adj" fmla="val 50000"/>
            </a:avLst>
          </a:prstGeom>
          <a:solidFill>
            <a:srgbClr val="122636"/>
          </a:solidFill>
          <a:ln w="12700">
            <a:solidFill>
              <a:srgbClr val="2745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8920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EA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Seeking:  </a:t>
            </a:r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+ pre-seed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489204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122636"/>
          </a:solidFill>
          <a:ln w="12700">
            <a:solidFill>
              <a:srgbClr val="2745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43400" y="48920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EA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Raising:  </a:t>
            </a:r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£[___]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92240" y="4892040"/>
            <a:ext cx="3017520" cy="457200"/>
          </a:xfrm>
          <a:prstGeom prst="roundRect">
            <a:avLst>
              <a:gd name="adj" fmla="val 50000"/>
            </a:avLst>
          </a:prstGeom>
          <a:solidFill>
            <a:srgbClr val="122636"/>
          </a:solidFill>
          <a:ln w="12700">
            <a:solidFill>
              <a:srgbClr val="2745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4892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EA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Stage:  </a:t>
            </a:r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· pre-revenue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" y="6172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EA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draft  ·  United Kingdom  ·  figures marked [___] to be completed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0F1F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most valuable hour in a practice is spent chasing clients.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2148840"/>
            <a:ext cx="51206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55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complete, correct records out of a client is the least-billable, most-hated task in bookkeeping — done today by memory, spreadsheets, and back-and-forth email. Capture tools read documents; none tell you the bundle is incomplete, and none write the chase.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126480" y="2103120"/>
            <a:ext cx="539496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9FB2C4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355080" y="2331720"/>
            <a:ext cx="310896" cy="310896"/>
          </a:xfrm>
          <a:prstGeom prst="oval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12280" y="22860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12280" y="265176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5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month of statements missing, a whole account forgotten, an invalid VAT number, a duplicate already paid — caught late, by hand, if at all.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26480" y="3429000"/>
            <a:ext cx="539496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9FB2C4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55080" y="3657600"/>
            <a:ext cx="310896" cy="310896"/>
          </a:xfrm>
          <a:prstGeom prst="oval">
            <a:avLst/>
          </a:prstGeom>
          <a:solidFill>
            <a:srgbClr val="1E8449"/>
          </a:solidFill>
          <a:ln/>
        </p:spPr>
      </p:sp>
      <p:sp>
        <p:nvSpPr>
          <p:cNvPr id="11" name="Text 9"/>
          <p:cNvSpPr/>
          <p:nvPr/>
        </p:nvSpPr>
        <p:spPr>
          <a:xfrm>
            <a:off x="6812280" y="36118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Intake Gate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12280" y="39776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5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bundle is checked in seconds against 20+ UK rules. You get a gap report and a ready-to-send chase — every flag traceable to a named rule.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F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regulatory deadline just made a chronic pain acute — and quarterly.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5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Tax Digital for Income Tax turns record-keeping from one annual return into four quarterly submissions, on a falling threshold. The chase quadruples — and a wave of first-time digital filers arrives with messy records.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880360"/>
            <a:ext cx="34290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9FB2C4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308152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2026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14400" y="33375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F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£50k+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14400" y="390448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~864,000 in the first wave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25112" y="2880360"/>
            <a:ext cx="34290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9FB2C4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99432" y="308152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2027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99432" y="33375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F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£30k+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599432" y="390448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drops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10144" y="2880360"/>
            <a:ext cx="34290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9FB2C4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84464" y="308152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2028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84464" y="33375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F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£20k+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284464" y="390448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— millions in scope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617720"/>
            <a:ext cx="521208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9FB2C4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60120" y="48006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6F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864k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3154680" y="480060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5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 traders &amp; landlords in the April 2026 MTD wave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126480" y="4617720"/>
            <a:ext cx="521208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9FB2C4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46520" y="48006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6F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436k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8641080" y="480060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5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already filed a first quarterly update (HMRC)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F1F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Broken bundle in, correct chase out — in 60 seconds.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42900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9FB2C4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331720"/>
            <a:ext cx="548640" cy="548640"/>
          </a:xfrm>
          <a:prstGeom prst="oval">
            <a:avLst/>
          </a:prstGeom>
          <a:solidFill>
            <a:srgbClr val="0D1E2C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" y="301752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the bundle in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60120" y="347472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5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the client's documents and set the period. PDFs, scans, phone photos.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34256" y="2011680"/>
            <a:ext cx="342900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9FB2C4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54296" y="2331720"/>
            <a:ext cx="548640" cy="548640"/>
          </a:xfrm>
          <a:prstGeom prst="oval">
            <a:avLst/>
          </a:prstGeom>
          <a:solidFill>
            <a:srgbClr val="0D1E2C"/>
          </a:solidFill>
          <a:ln/>
        </p:spPr>
      </p:sp>
      <p:sp>
        <p:nvSpPr>
          <p:cNvPr id="11" name="Text 9"/>
          <p:cNvSpPr/>
          <p:nvPr/>
        </p:nvSpPr>
        <p:spPr>
          <a:xfrm>
            <a:off x="4654296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54296" y="301752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do the checking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654296" y="347472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5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reads documents into data; deterministic rules make every pass/fail call.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28432" y="2011680"/>
            <a:ext cx="342900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9FB2C4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48472" y="2331720"/>
            <a:ext cx="548640" cy="548640"/>
          </a:xfrm>
          <a:prstGeom prst="oval">
            <a:avLst/>
          </a:prstGeom>
          <a:solidFill>
            <a:srgbClr val="0D1E2C"/>
          </a:solidFill>
          <a:ln/>
        </p:spPr>
      </p:sp>
      <p:sp>
        <p:nvSpPr>
          <p:cNvPr id="16" name="Text 14"/>
          <p:cNvSpPr/>
          <p:nvPr/>
        </p:nvSpPr>
        <p:spPr>
          <a:xfrm>
            <a:off x="8348472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348472" y="301752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the chase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348472" y="347472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5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gap report and a client-ready email naming exactly what to fix. Copy, send, done.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617720"/>
            <a:ext cx="10908792" cy="960120"/>
          </a:xfrm>
          <a:prstGeom prst="roundRect">
            <a:avLst>
              <a:gd name="adj" fmla="val 8571"/>
            </a:avLst>
          </a:prstGeom>
          <a:solidFill>
            <a:srgbClr val="EAF2EA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9FB2C4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60120" y="4617720"/>
            <a:ext cx="10241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60-second demo is real today.  </a:t>
            </a:r>
            <a:pPr indent="0" marL="0">
              <a:buNone/>
            </a:pPr>
            <a:r>
              <a:rPr lang="en-US" sz="1450" dirty="0">
                <a:solidFill>
                  <a:srgbClr val="55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broken bundle → red flags → a plain-English fix list → a chase email you can send.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F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Auditable AI — the part that makes it sellable to a liable buyer.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416052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9FB2C4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35915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6F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extracts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60120" y="2852928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5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model's only job: turn each document into structured, typed data.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800600" y="2103120"/>
            <a:ext cx="777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8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5577840" y="2103120"/>
            <a:ext cx="4160520" cy="1463040"/>
          </a:xfrm>
          <a:prstGeom prst="roundRect">
            <a:avLst>
              <a:gd name="adj" fmla="val 5625"/>
            </a:avLst>
          </a:prstGeom>
          <a:solidFill>
            <a:srgbClr val="0D1E2C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9FB2C4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897880" y="235915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FB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decides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897880" y="2852928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7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Python makes every pass/fail call — each flag a named rule with a reason.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931920"/>
            <a:ext cx="10908792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9FB2C4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60120" y="411480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defensible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4434840"/>
            <a:ext cx="10241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55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moat isn't the AI — everyone has AI. </a:t>
            </a:r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0F1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the explainable, testable UK rule library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55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professionally-liable buyer can rely on, plus ownership of the </a:t>
            </a:r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0F1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chase workflow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55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 black-box competitor can't copy it without rebuilding trust from zero.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F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fragmented UK base, forced to change on a deadline.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290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9FB2C4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9659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F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~40k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14400" y="262432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5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accountancy firms (~80% ≤4 staff)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34256" y="1783080"/>
            <a:ext cx="34290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9FB2C4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08576" y="19659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F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~17k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608576" y="262432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5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UK bookkeeping firms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28432" y="1783080"/>
            <a:ext cx="34290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9FB2C4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02752" y="19659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F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864k+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302752" y="262432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5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 traders &amp; landlords, 2026 MTD wave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429000"/>
            <a:ext cx="10908792" cy="457200"/>
          </a:xfrm>
          <a:prstGeom prst="roundRect">
            <a:avLst>
              <a:gd name="adj" fmla="val 12000"/>
            </a:avLst>
          </a:prstGeom>
          <a:solidFill>
            <a:srgbClr val="0D1E2C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4290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 sizing (UK, illustrative)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83680" y="34290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509760" y="3429000"/>
            <a:ext cx="1764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886200"/>
            <a:ext cx="10908792" cy="475488"/>
          </a:xfrm>
          <a:prstGeom prst="rect">
            <a:avLst/>
          </a:prstGeom>
          <a:solidFill>
            <a:srgbClr val="EEF3F8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886200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— practices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83680" y="388620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~40k firms × ~£1.5k/yr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509760" y="3886200"/>
            <a:ext cx="1764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1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~£60m/yr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4361688"/>
            <a:ext cx="10908792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361688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— small practices doing intake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83680" y="4361688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~30k × ~£1.5k/yr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509760" y="4361688"/>
            <a:ext cx="1764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1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~£45m/yr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" y="4837176"/>
            <a:ext cx="10908792" cy="475488"/>
          </a:xfrm>
          <a:prstGeom prst="rect">
            <a:avLst/>
          </a:prstGeom>
          <a:solidFill>
            <a:srgbClr val="EEF3F8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4837176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— 3-year reachable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583680" y="4837176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~8–10% of SAM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509760" y="4837176"/>
            <a:ext cx="1764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1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~£4–5m ARR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0080" y="5312664"/>
            <a:ext cx="10908792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5312664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— SME direct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583680" y="5312664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864k+ → millions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9509760" y="5312664"/>
            <a:ext cx="1764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1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optionality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40080" y="3886200"/>
            <a:ext cx="10908792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584301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from public firm counts + our pricing hypothesis — to be firmed up with Phase 0 data.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F1F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Subscription, metered on active clients.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55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SaaS priced on active clients per month — the way practices already buy. A free tier funnels; practice tiers scale with the book.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6309360" cy="438912"/>
          </a:xfrm>
          <a:prstGeom prst="roundRect">
            <a:avLst>
              <a:gd name="adj" fmla="val 12500"/>
            </a:avLst>
          </a:prstGeom>
          <a:solidFill>
            <a:srgbClr val="0D1E2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51460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0" y="251460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212080" y="2514600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(illustrative)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953512"/>
            <a:ext cx="6309360" cy="502920"/>
          </a:xfrm>
          <a:prstGeom prst="rect">
            <a:avLst/>
          </a:prstGeom>
          <a:solidFill>
            <a:srgbClr val="EEF3F8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95351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0" y="295351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212080" y="2953512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0F1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£0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3456432"/>
            <a:ext cx="630936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45643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57600" y="345643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≤10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212080" y="3456432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0F1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~£39–49/mo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3959352"/>
            <a:ext cx="6309360" cy="502920"/>
          </a:xfrm>
          <a:prstGeom prst="rect">
            <a:avLst/>
          </a:prstGeom>
          <a:solidFill>
            <a:srgbClr val="EEF3F8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95935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657600" y="395935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≤40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212080" y="3959352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0F1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~£129–149/mo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40080" y="4462272"/>
            <a:ext cx="630936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46227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657600" y="446227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212080" y="4462272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0F1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7360920" y="2514600"/>
            <a:ext cx="4190695" cy="2743200"/>
          </a:xfrm>
          <a:prstGeom prst="roundRect">
            <a:avLst>
              <a:gd name="adj" fmla="val 3000"/>
            </a:avLst>
          </a:prstGeom>
          <a:solidFill>
            <a:srgbClr val="EAF2EA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9FB2C4">
                <a:alpha val="2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680960" y="2697480"/>
            <a:ext cx="35506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680960" y="3063240"/>
            <a:ext cx="35506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F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~£1,500–1,800</a:t>
            </a:r>
            <a:endParaRPr lang="en-US" sz="2900" dirty="0"/>
          </a:p>
        </p:txBody>
      </p:sp>
      <p:sp>
        <p:nvSpPr>
          <p:cNvPr id="28" name="Text 26"/>
          <p:cNvSpPr/>
          <p:nvPr/>
        </p:nvSpPr>
        <p:spPr>
          <a:xfrm>
            <a:off x="7680960" y="3703320"/>
            <a:ext cx="3550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year from a 40-client practice.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7680960" y="4160520"/>
            <a:ext cx="35506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F1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delivered ≈ £120–160 per client per year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5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(one chase-hour saved per quarter) — roughly 10× the price.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&amp;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F1F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Built, tested, and entering design partners.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1947672"/>
            <a:ext cx="5532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 built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43000" y="2258568"/>
            <a:ext cx="5532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5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loop + 20 rules, 53 tests, zero false blocking flags on the fixture set.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2953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2935224"/>
            <a:ext cx="5532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site + concierge tool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43000" y="3246120"/>
            <a:ext cx="5532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5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marketing site and a CLI to serve partners by hand before the platform exists.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3941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3000" y="3922776"/>
            <a:ext cx="5532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 underway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3000" y="4233672"/>
            <a:ext cx="5532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5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Recruiting 3–5 design-partner practices; running real bundles; validating pricing.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" y="4928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43000" y="4910328"/>
            <a:ext cx="5532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43000" y="5221224"/>
            <a:ext cx="5532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5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 platform (multi-tenancy, billing), then an SME-direct wedge.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178040" y="1965960"/>
            <a:ext cx="4373575" cy="3794760"/>
          </a:xfrm>
          <a:prstGeom prst="roundRect">
            <a:avLst>
              <a:gd name="adj" fmla="val 2169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9FB2C4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498080" y="22402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F6FEB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092440" y="2194560"/>
            <a:ext cx="3184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→ 3 mo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092440" y="2423160"/>
            <a:ext cx="3184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partners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092440" y="2715768"/>
            <a:ext cx="3184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5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Concierge delivery, proof, case studies, hardened rules.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498080" y="341071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F6FEB"/>
          </a:solidFill>
          <a:ln/>
        </p:spPr>
      </p:sp>
      <p:sp>
        <p:nvSpPr>
          <p:cNvPr id="23" name="Text 21"/>
          <p:cNvSpPr/>
          <p:nvPr/>
        </p:nvSpPr>
        <p:spPr>
          <a:xfrm>
            <a:off x="7498080" y="3410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092440" y="3364992"/>
            <a:ext cx="3184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→ 9 mo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092440" y="3593592"/>
            <a:ext cx="3184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 practice SaaS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8092440" y="3886200"/>
            <a:ext cx="3184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5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Multi-tenancy, auth, Stripe. Distribute via MTD content, bodies, marketplaces.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498080" y="458114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F6FEB"/>
          </a:solidFill>
          <a:ln/>
        </p:spPr>
      </p:sp>
      <p:sp>
        <p:nvSpPr>
          <p:cNvPr id="28" name="Text 26"/>
          <p:cNvSpPr/>
          <p:nvPr/>
        </p:nvSpPr>
        <p:spPr>
          <a:xfrm>
            <a:off x="7498080" y="4581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092440" y="4535424"/>
            <a:ext cx="3184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mo +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092440" y="4764024"/>
            <a:ext cx="3184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wedge + integrations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8092440" y="5056632"/>
            <a:ext cx="3184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5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Write-back connectors; a free SME tier as a referral loop into practices.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NON-DILUTIVE FUNDING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F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genuine innovation story for grants — told honestly.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550" dirty="0">
                <a:solidFill>
                  <a:srgbClr val="55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fundable innovation is </a:t>
            </a:r>
            <a:pPr indent="0" marL="0">
              <a:lnSpc>
                <a:spcPct val="114000"/>
              </a:lnSpc>
              <a:buNone/>
            </a:pPr>
            <a:r>
              <a:rPr lang="en-US" sz="1550" b="1" i="1" dirty="0">
                <a:solidFill>
                  <a:srgbClr val="0F1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pPr indent="0" marL="0">
              <a:lnSpc>
                <a:spcPct val="114000"/>
              </a:lnSpc>
              <a:buNone/>
            </a:pPr>
            <a:r>
              <a:rPr lang="en-US" sz="1550" dirty="0">
                <a:solidFill>
                  <a:srgbClr val="55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“an AI product” — it's </a:t>
            </a:r>
            <a:pPr indent="0" marL="0">
              <a:lnSpc>
                <a:spcPct val="114000"/>
              </a:lnSpc>
              <a:buNone/>
            </a:pPr>
            <a:r>
              <a:rPr lang="en-US" sz="1550" b="1" dirty="0">
                <a:solidFill>
                  <a:srgbClr val="0F1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for regulated, professionally-liable finance</a:t>
            </a:r>
            <a:pPr indent="0" marL="0">
              <a:lnSpc>
                <a:spcPct val="114000"/>
              </a:lnSpc>
              <a:buNone/>
            </a:pPr>
            <a:r>
              <a:rPr lang="en-US" sz="1550" dirty="0">
                <a:solidFill>
                  <a:srgbClr val="55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 hybrid where AI extraction is bounded by deterministic, auditable rules so its decisions can be trusted and tested. That's a real R&amp;D question, and it maps cleanly to UK innovation funding.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3200400"/>
            <a:ext cx="10908792" cy="1371600"/>
          </a:xfrm>
          <a:prstGeom prst="roundRect">
            <a:avLst>
              <a:gd name="adj" fmla="val 6000"/>
            </a:avLst>
          </a:prstGeom>
          <a:solidFill>
            <a:srgbClr val="F6EED8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9FB2C4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336499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Avenues to explore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3675888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F1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Innovate UK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5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Smart Grants / sector competitions  ·  </a:t>
            </a:r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F1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 tax relief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5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the engineering already done  ·  AI-adoption &amp; productivity programmes. Non-dilutive funding extends runway alongside a pre-seed round — it doesn't replace the commercial proof from Phase 0.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4800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i="1" dirty="0">
                <a:solidFill>
                  <a:srgbClr val="8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Positioning: we lead with “auditable AI”, never “fully autonomous AI”. Overclaiming autonomy would fail diligence and undercut the exact trust that makes the product sellable.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E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7FB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Collaboration to turn a proven prototype into a platform.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214884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D7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seeking a strategic partner and </a:t>
            </a:r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£[___] pre-seed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D7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fund the self-serve build and go-to-market through the MTD windows.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FB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~45%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011680" y="3172968"/>
            <a:ext cx="5669280" cy="237744"/>
          </a:xfrm>
          <a:prstGeom prst="roundRect">
            <a:avLst>
              <a:gd name="adj" fmla="val 50000"/>
            </a:avLst>
          </a:prstGeom>
          <a:solidFill>
            <a:srgbClr val="1B3346"/>
          </a:solidFill>
          <a:ln/>
        </p:spPr>
      </p:sp>
      <p:sp>
        <p:nvSpPr>
          <p:cNvPr id="7" name="Shape 5"/>
          <p:cNvSpPr/>
          <p:nvPr/>
        </p:nvSpPr>
        <p:spPr>
          <a:xfrm>
            <a:off x="2011680" y="3172968"/>
            <a:ext cx="2551176" cy="237744"/>
          </a:xfrm>
          <a:prstGeom prst="roundRect">
            <a:avLst>
              <a:gd name="adj" fmla="val 50000"/>
            </a:avLst>
          </a:prstGeom>
          <a:solidFill>
            <a:srgbClr val="1F6FEB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0" y="3063240"/>
            <a:ext cx="35963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7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— multi-tenancy, billing, first validated modules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381304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FB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~35%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011680" y="3922776"/>
            <a:ext cx="5669280" cy="237744"/>
          </a:xfrm>
          <a:prstGeom prst="roundRect">
            <a:avLst>
              <a:gd name="adj" fmla="val 50000"/>
            </a:avLst>
          </a:prstGeom>
          <a:solidFill>
            <a:srgbClr val="1B3346"/>
          </a:solidFill>
          <a:ln/>
        </p:spPr>
      </p:sp>
      <p:sp>
        <p:nvSpPr>
          <p:cNvPr id="11" name="Shape 9"/>
          <p:cNvSpPr/>
          <p:nvPr/>
        </p:nvSpPr>
        <p:spPr>
          <a:xfrm>
            <a:off x="2011680" y="3922776"/>
            <a:ext cx="1984248" cy="237744"/>
          </a:xfrm>
          <a:prstGeom prst="roundRect">
            <a:avLst>
              <a:gd name="adj" fmla="val 50000"/>
            </a:avLst>
          </a:prstGeom>
          <a:solidFill>
            <a:srgbClr val="1F6FEB"/>
          </a:solidFill>
          <a:ln/>
        </p:spPr>
      </p:sp>
      <p:sp>
        <p:nvSpPr>
          <p:cNvPr id="12" name="Text 10"/>
          <p:cNvSpPr/>
          <p:nvPr/>
        </p:nvSpPr>
        <p:spPr>
          <a:xfrm>
            <a:off x="7955280" y="3813048"/>
            <a:ext cx="35963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7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 — MTD content, bodies &amp; marketplace listings, partner conversion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" y="456285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FB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~20%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011680" y="4672584"/>
            <a:ext cx="5669280" cy="237744"/>
          </a:xfrm>
          <a:prstGeom prst="roundRect">
            <a:avLst>
              <a:gd name="adj" fmla="val 50000"/>
            </a:avLst>
          </a:prstGeom>
          <a:solidFill>
            <a:srgbClr val="1B3346"/>
          </a:solidFill>
          <a:ln/>
        </p:spPr>
      </p:sp>
      <p:sp>
        <p:nvSpPr>
          <p:cNvPr id="15" name="Shape 13"/>
          <p:cNvSpPr/>
          <p:nvPr/>
        </p:nvSpPr>
        <p:spPr>
          <a:xfrm>
            <a:off x="2011680" y="4672584"/>
            <a:ext cx="1133856" cy="237744"/>
          </a:xfrm>
          <a:prstGeom prst="roundRect">
            <a:avLst>
              <a:gd name="adj" fmla="val 50000"/>
            </a:avLst>
          </a:prstGeom>
          <a:solidFill>
            <a:srgbClr val="1F6FEB"/>
          </a:solidFill>
          <a:ln/>
        </p:spPr>
      </p:sp>
      <p:sp>
        <p:nvSpPr>
          <p:cNvPr id="16" name="Text 14"/>
          <p:cNvSpPr/>
          <p:nvPr/>
        </p:nvSpPr>
        <p:spPr>
          <a:xfrm>
            <a:off x="7955280" y="4562856"/>
            <a:ext cx="35963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7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Operations, compliance (DPA/security) &amp; runway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" y="54406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i="1" dirty="0">
                <a:solidFill>
                  <a:srgbClr val="8EA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Percentages illustrative — set with a real budget. Especially valuable: partners with distribution into UK practices (accounting software, professional bodies, accountancy networks).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F1F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Who's building it.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 — replace with real bios before sending.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5349240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9FB2C4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2606040"/>
            <a:ext cx="822960" cy="822960"/>
          </a:xfrm>
          <a:prstGeom prst="oval">
            <a:avLst/>
          </a:prstGeom>
          <a:solidFill>
            <a:srgbClr val="E3EAF2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606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6F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005840" y="361188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[Founder — Nick]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" y="4023360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5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[One line: background, why you, the unfair advantage — e.g. data/engineering plus the domain access that landed the first design partners.]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99632" y="2240280"/>
            <a:ext cx="5349240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9FB2C4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65392" y="2606040"/>
            <a:ext cx="822960" cy="822960"/>
          </a:xfrm>
          <a:prstGeom prst="oval">
            <a:avLst/>
          </a:prstGeom>
          <a:solidFill>
            <a:srgbClr val="E3EAF2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65392" y="2606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84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565392" y="361188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[Advisors / key hire]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65392" y="4023360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5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 a practising accountant or bookkeeper advisor for credibility, and the first hire you'd make with the round.]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E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9436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0A1620"/>
          </a:solidFill>
          <a:ln w="25400">
            <a:solidFill>
              <a:srgbClr val="3F7F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94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5943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INTAKE GATE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10424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3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“Check the records before you touch the books — and never send a client the wrong chase.”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4206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EA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 · email · phone]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58064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EA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draft. All financial figures, market estimates and use-of-funds splits are illustrative and to be confirmed; the venture is pre-revenue at the design-partner stage. Intake Gate performs records quality assurance, not tax advice, and makes no HMRC submission.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Intake Gate — Investor Brief</dc:title>
  <dc:subject>PptxGenJS Presentation</dc:subject>
  <dc:creator>Intake Gate</dc:creator>
  <cp:lastModifiedBy>Intake Gate</cp:lastModifiedBy>
  <cp:revision>1</cp:revision>
  <dcterms:created xsi:type="dcterms:W3CDTF">2026-08-17T09:24:52Z</dcterms:created>
  <dcterms:modified xsi:type="dcterms:W3CDTF">2026-08-17T09:24:52Z</dcterms:modified>
</cp:coreProperties>
</file>